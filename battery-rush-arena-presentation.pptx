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Rush Arena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게임네트워크기초 중간 프로젝트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5029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1783080" cy="38404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6000.3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834640"/>
            <a:ext cx="178308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C#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834640"/>
            <a:ext cx="1783080" cy="38404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2834640"/>
            <a:ext cx="1783080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2인 실시간 배틀 게임  ·  권위 서버 아키텍처  ·  MySQL 전적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>
              <a:alpha val="6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프로그래밍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69848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9784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3533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소개 &amp; 기술 스택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86868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01768" y="106984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05272" y="9784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구조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5272" y="13533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↔ Server ↔ 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093976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20025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컴포넌트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10 서버 모듈 10개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892808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01768" y="209397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05272" y="20025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설계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05272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Length-Prefix + JSON 설계 결정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16936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118104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" y="30266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타입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" y="3401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C→S 8개 / S→C 16개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916936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01768" y="3118104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05272" y="30266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상태 머신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05272" y="3401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→ ResultsReady 전이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941064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9768" y="4142232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33272" y="40507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로직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33272" y="4425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이동·배터리·함정·SlowShot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3941064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01768" y="4142232"/>
            <a:ext cx="475488" cy="475488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05272" y="40507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스키마 &amp; 저장 흐름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05272" y="4425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테이블 &amp;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89204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4041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소개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2인 실시간 배틀 아레나 게임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배터리를 먹어 점수를 쌓고, 함정·SlowShot으로 상대 방해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120초 매치 — 종료 시 MySQL에 전적 자동 저장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특징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권위 서버(Authoritative): 게임 로직 100% 서버 처리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Unity 클라이언트 — 입력 전송 + 렌더링 전담 (경량)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MySQL 직접 접속 없음 (서버 경유 전용)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TCP 소켓 + Length-Prefix + UTF-8 JSON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프로토콜 버전: bra-spike-v1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822960"/>
            <a:ext cx="3429000" cy="1207008"/>
          </a:xfrm>
          <a:prstGeom prst="rect">
            <a:avLst/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822960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6000.3.10f1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3716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렌더링 &amp; 입력 처리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2167128"/>
            <a:ext cx="3429000" cy="1207008"/>
          </a:xfrm>
          <a:prstGeom prst="rect">
            <a:avLst/>
          </a:prstGeom>
          <a:solidFill>
            <a:srgbClr val="E0F2F1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2167128"/>
            <a:ext cx="64008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C#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27157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서버 · 게임 로직 · DB 연결 관리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3511296"/>
            <a:ext cx="3429000" cy="1207008"/>
          </a:xfrm>
          <a:prstGeom prst="rect">
            <a:avLst/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3511296"/>
            <a:ext cx="6400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6484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405993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전적 저장 (match_results·player_stats)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611880"/>
          </a:xfrm>
          <a:prstGeom prst="rect">
            <a:avLst/>
          </a:prstGeom>
          <a:solidFill>
            <a:srgbClr val="E0F7F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NetworkSpikeClient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NetworkSpikeApp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Render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3611880"/>
          </a:xfrm>
          <a:prstGeom prst="rect">
            <a:avLst/>
          </a:prstGeom>
          <a:solidFill>
            <a:srgbClr val="E3F2FD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6517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TCP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57276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SpikeServerHost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Loop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Logic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651760" cy="3611880"/>
          </a:xfrm>
          <a:prstGeom prst="rect">
            <a:avLst/>
          </a:prstGeom>
          <a:solidFill>
            <a:srgbClr val="FFF8E1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960120"/>
            <a:ext cx="26517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57276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match_results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player_stats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560320"/>
            <a:ext cx="32004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788920" y="22860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전송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2880360"/>
            <a:ext cx="32004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headEnd type="arrow"/>
          </a:ln>
        </p:spPr>
      </p:sp>
      <p:sp>
        <p:nvSpPr>
          <p:cNvPr id="19" name="Text 17"/>
          <p:cNvSpPr/>
          <p:nvPr/>
        </p:nvSpPr>
        <p:spPr>
          <a:xfrm>
            <a:off x="2788920" y="29260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상태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560320"/>
            <a:ext cx="32004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5833872" y="2286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880360"/>
            <a:ext cx="32004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arrow"/>
          </a:ln>
        </p:spPr>
      </p:sp>
      <p:sp>
        <p:nvSpPr>
          <p:cNvPr id="23" name="Text 21"/>
          <p:cNvSpPr/>
          <p:nvPr/>
        </p:nvSpPr>
        <p:spPr>
          <a:xfrm>
            <a:off x="5833872" y="29260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7777  |  Protocol: bra-spike-v1  |  HeartbeatInterval: 2s  |  StaleTimeout: 30s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컴포넌트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" y="12070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진입점 · SpikeServerHost 생성 및 RunAsync()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82312" y="822960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82312" y="822960"/>
            <a:ext cx="64008" cy="7680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46904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SpikeServerHost.cs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46904" y="12070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Accept 루프 · 메시지 switch 디스패치 · 게임플레이 루프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73352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73352"/>
            <a:ext cx="64008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7465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ClientSession.cs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20574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클라이언트 상태 (SessionId, LastSeenUtc, LastTick)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82312" y="1673352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673352"/>
            <a:ext cx="64008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17465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RoomRegistry.cs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46904" y="20574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인메모리 룸 관리 · SyncRoot 락으로 스레드 안전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23744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23744"/>
            <a:ext cx="64008" cy="7680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596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SpikeRoom.cs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" y="29077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상태 · PlayerEffectState · SpikeVec2 · 게임 로직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82312" y="2523744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523744"/>
            <a:ext cx="64008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2596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LengthPrefixedProtocol.cs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46904" y="29077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4-byte BigEndian 길이 헤더 + UTF-8 JSON · SemaphoreSlim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374136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374136"/>
            <a:ext cx="64008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447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ProtocolMessages.cs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" y="37581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ClientMessage / ServerMessage DTO · ProtocolJson 설정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82312" y="3374136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2312" y="3374136"/>
            <a:ext cx="64008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3447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MySqlPersistenceService.cs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46904" y="37581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INSERT + UPSERT · 최대 3회 재시도 · QueryTop10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224528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24528"/>
            <a:ext cx="64008" cy="7680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SpikeServerConfig.cs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" y="46085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포트·타임아웃·게임 파라미터 상수 모음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4224528"/>
            <a:ext cx="42062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82312" y="4224528"/>
            <a:ext cx="64008" cy="768096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PersistenceModels.cs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46904" y="46085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MatchResultPayload · LeaderboardRow · PersistenceAttemptResult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설계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구조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920240" cy="932688"/>
          </a:xfrm>
          <a:prstGeom prst="rect">
            <a:avLst/>
          </a:prstGeom>
          <a:solidFill>
            <a:srgbClr val="E0F7F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19202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bytes · BigEndian int32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1170432"/>
            <a:ext cx="4389120" cy="932688"/>
          </a:xfrm>
          <a:prstGeom prst="rect">
            <a:avLst/>
          </a:prstGeom>
          <a:solidFill>
            <a:srgbClr val="E3F2FD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704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517904"/>
            <a:ext cx="438912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 string · { "type": "...", ... 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170432"/>
            <a:ext cx="1874520" cy="9326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188720"/>
            <a:ext cx="178308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예시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"type":"input_frame",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"dx":1, "dy":0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결정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70048"/>
            <a:ext cx="64008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761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SemaphoreSlim(1,1) per stream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31012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스트림당 뮤텍스로 동시 쓰기 시 패킷 인터리빙 방지. WriteAsync 직렬화 보장.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670048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2670048"/>
            <a:ext cx="64008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761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CaseInsensitive JSON 파싱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31012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↔ C# 서버 간 필드명 대소문자 불일치 허용. ProtocolJson 설정으로 강건성 향상.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2670048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2670048"/>
            <a:ext cx="64008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761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WriteIndented = false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73368" y="331012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트래픽 최소화. 디버그 시에만 pretty-print 전환. 패킷 크기 절감.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타입 목록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  (8 types)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3977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207008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핸드셰이크 · 버전 검증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39776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82496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824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create_room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682496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생성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3977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57984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5798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join_room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157984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참가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633472"/>
            <a:ext cx="39776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33472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33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leave_room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633472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탈퇴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3977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08960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0896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ready_state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3108960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 상태 토글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39776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584448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8444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start_match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3584448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매치 시작 (호스트 전용)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059936"/>
            <a:ext cx="3977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059936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05993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0" y="4059936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유지 (2초 간격)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535424"/>
            <a:ext cx="39776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535424"/>
            <a:ext cx="1234440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3542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input_frame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4535424"/>
            <a:ext cx="26060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입력 (dx, dy, useSlowShot)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777240"/>
            <a:ext cx="3977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777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  (16 types)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92040" y="12070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12070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12070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hello_accepted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601968" y="12070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핸드셰이크 성공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92040" y="14356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040" y="14356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0328" y="14356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hello_rejected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601968" y="14356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불일치 / 이름 오류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92040" y="16642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92040" y="16642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16642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heartbeat_ack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601968" y="16642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유지 확인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92040" y="18928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18928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18928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room_joined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601968" y="18928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참가/생성 성공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92040" y="21214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21214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21214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room_left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01968" y="21214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탈퇴 처리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92040" y="23500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23500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0328" y="23500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room_state_changed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601968" y="23500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상태 변경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92040" y="25786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25786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0328" y="25786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room_snapshot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601968" y="25786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전체 스냅샷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92040" y="28072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92040" y="28072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10328" y="28072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room_listings_updated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01968" y="28072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목록 갱신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892040" y="30358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92040" y="30358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10328" y="30358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countdown_tick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601968" y="30358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카운트다운 (3, 2, 1)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92040" y="32644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92040" y="32644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10328" y="32644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active_tick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601968" y="32644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프레임 게임 상태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892040" y="34930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92040" y="34930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0328" y="34930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battery_respawned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601968" y="34930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리스폰 위치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892040" y="37216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92040" y="37216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10328" y="37216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effect_state_changed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601968" y="37216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효과 변경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892040" y="39502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2040" y="39502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10328" y="39502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input_frame_ack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601968" y="39502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수신 확인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892040" y="41788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892040" y="41788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10328" y="41788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input_frame_ignored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601968" y="41788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중복/무효 입력 무시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892040" y="4407408"/>
            <a:ext cx="397764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92040" y="44074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10328" y="44074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session_stale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601968" y="44074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타임아웃 경고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892040" y="4636008"/>
            <a:ext cx="3977640" cy="2103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892040" y="4636008"/>
            <a:ext cx="1664208" cy="210312"/>
          </a:xfrm>
          <a:prstGeom prst="rect">
            <a:avLst/>
          </a:prstGeom>
          <a:solidFill>
            <a:srgbClr val="CCFBF1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10328" y="463600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601968" y="4636008"/>
            <a:ext cx="2221992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응답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상태 머신 (Room State Machine)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1664208"/>
            <a:ext cx="1325880" cy="658368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91640" y="1664208"/>
            <a:ext cx="1325880" cy="658368"/>
          </a:xfrm>
          <a:prstGeom prst="rect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664208"/>
            <a:ext cx="1325880" cy="658368"/>
          </a:xfrm>
          <a:prstGeom prst="rect">
            <a:avLst/>
          </a:prstGeom>
          <a:solidFill>
            <a:srgbClr val="059669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664208"/>
            <a:ext cx="1325880" cy="658368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664208"/>
            <a:ext cx="1325880" cy="658368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664208"/>
            <a:ext cx="1325880" cy="658368"/>
          </a:xfrm>
          <a:prstGeom prst="rect">
            <a:avLst/>
          </a:prstGeom>
          <a:solidFill>
            <a:srgbClr val="CA8A0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1993392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017520" y="1993392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480560" y="1993392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943600" y="1993392"/>
            <a:ext cx="457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315200" y="1993392"/>
            <a:ext cx="1828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621792" y="24505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2명 + 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host start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84832" y="24505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카운트다운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93008" y="24505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120초 경과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disconnect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56048" y="24505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저장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49440" y="24505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2057400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3101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67588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대기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목록에 노출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32888" y="3246120"/>
            <a:ext cx="2057400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24328" y="33101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24328" y="367588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tick 루프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배터리·함정 갱신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45736" y="3246120"/>
            <a:ext cx="2057400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37176" y="33101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37176" y="367588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Transaction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+ UPSERT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58584" y="3246120"/>
            <a:ext cx="2057400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50024" y="33101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ResultsReady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50024" y="3675888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전송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결과 화면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로직  ①  이동 &amp; 배터리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6052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시스템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PlayerStepDistance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unit/frame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1865376"/>
            <a:ext cx="3995928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ArenaHalfExtent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±7.25 units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SpawnPoint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(-5.1, 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2962656"/>
            <a:ext cx="3995928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SpawnPoint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(5.1, 0)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StaleTimeout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" y="4059936"/>
            <a:ext cx="3995928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2초 간격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1605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16052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82296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시스템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28032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ActiveBatteryCount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동시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1865376"/>
            <a:ext cx="3995928" cy="502920"/>
          </a:xfrm>
          <a:prstGeom prst="rect">
            <a:avLst/>
          </a:prstGeom>
          <a:solidFill>
            <a:srgbClr val="FFFB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PickupRadius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units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RespawnDelay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 후 재생성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962656"/>
            <a:ext cx="3995928" cy="502920"/>
          </a:xfrm>
          <a:prstGeom prst="rect">
            <a:avLst/>
          </a:prstGeom>
          <a:solidFill>
            <a:srgbClr val="FFFB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1개 = +1점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랜덤 생성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36592" y="4059936"/>
            <a:ext cx="3995928" cy="502920"/>
          </a:xfrm>
          <a:prstGeom prst="rect">
            <a:avLst/>
          </a:prstGeom>
          <a:solidFill>
            <a:srgbClr val="FFFB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battery_respawned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로직  ②  함정 &amp; SlowShot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605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시스템 (Trap)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ActiveTrapCount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동시 배치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1865376"/>
            <a:ext cx="3995928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TriggerRadius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units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SpeedMult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0.70× 속도 감소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2962656"/>
            <a:ext cx="3995928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EffectDuration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effect_state_changed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" y="4059936"/>
            <a:ext cx="3995928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효과 상태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SlowFromTrap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1605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16052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82296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SlowShot 시스템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28032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SlowShotRange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3167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units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1865376"/>
            <a:ext cx="3995928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SpeedMult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0.65× 속도 감소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EffectDuration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241401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962656"/>
            <a:ext cx="3995928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발사 조건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351129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≥ 0.25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36592" y="4059936"/>
            <a:ext cx="3995928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효과 상태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059936"/>
            <a:ext cx="1920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SlowFromShot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Frame 처리 흐름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18688" y="77724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8688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SpikeServerHost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3056" y="77724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63056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SpikeRoom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2670048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07008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키 입력 감지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53312" y="1207008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SendInputFrameAsync(dx, dy, useSlowShot)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2670048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82496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패킷 전송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53312" y="1682496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LengthPrefixed Protocol · WriteAsync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2157984"/>
            <a:ext cx="2670048" cy="429768"/>
          </a:xfrm>
          <a:prstGeom prst="rect">
            <a:avLst/>
          </a:prstGeom>
          <a:solidFill>
            <a:srgbClr val="E3F2FD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157984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패킷 수신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2157984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ReadMessageAsync → switch(type)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4408" y="2633472"/>
            <a:ext cx="2670048" cy="429768"/>
          </a:xfrm>
          <a:prstGeom prst="rect">
            <a:avLst/>
          </a:prstGeom>
          <a:solidFill>
            <a:srgbClr val="E3F2FD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633472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프레임 검증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0" y="2633472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lastProcessedTick + 1 확인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08776" y="3108960"/>
            <a:ext cx="2670048" cy="429768"/>
          </a:xfrm>
          <a:prstGeom prst="rect">
            <a:avLst/>
          </a:prstGeom>
          <a:solidFill>
            <a:srgbClr val="E0F2F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108960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게임 로직 처리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42048" y="3108960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ApplyInput → 이동·배터리·함정 처리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3584448"/>
            <a:ext cx="2670048" cy="429768"/>
          </a:xfrm>
          <a:prstGeom prst="rect">
            <a:avLst/>
          </a:prstGeom>
          <a:solidFill>
            <a:srgbClr val="E3F2FD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584448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ACK 전송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0" y="3584448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input_frame_ack / input_frame_ignored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08776" y="4059936"/>
            <a:ext cx="2670048" cy="429768"/>
          </a:xfrm>
          <a:prstGeom prst="rect">
            <a:avLst/>
          </a:prstGeom>
          <a:solidFill>
            <a:srgbClr val="E0F2F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4059936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상태 브로드캐스트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42048" y="4059936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active_tick → 전체 클라이언트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535424"/>
            <a:ext cx="2670048" cy="429768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35424"/>
            <a:ext cx="96012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UI 갱신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353312" y="4535424"/>
            <a:ext cx="1554480" cy="4297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MainThread Dispatch → 위치 업데이트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스키마 설계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25296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57400" y="1225296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 AUTO_INCREMENT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225296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— 자동 증가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5029200" cy="33832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57400" y="1572768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VARCHAR(64)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572768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식별자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20240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ended_at_utc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57400" y="1920240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매치 종료 시각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5029200" cy="33832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67712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end_reason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2267712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267712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disconnect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615184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15184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winner_player_name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7400" y="2615184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615184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승자 이름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962656"/>
            <a:ext cx="5029200" cy="33832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62656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player_count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57400" y="2962656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962656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참가 인원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310128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10128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player_a / b name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57400" y="3310128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VARCHAR(64)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3310128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플레이어 이름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657600"/>
            <a:ext cx="5029200" cy="33832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657600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player_a / b score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57400" y="3657600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3657600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플레이어 점수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005072"/>
            <a:ext cx="5029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005072"/>
            <a:ext cx="16002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raw_payload_json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57400" y="4005072"/>
            <a:ext cx="128016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83280" y="4005072"/>
            <a:ext cx="182880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결과 JSON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23560" y="777240"/>
            <a:ext cx="32004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777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player_stats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623560" y="122529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1225296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player_name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95160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VARCHAR(64)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09560" y="1225296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23560" y="1627632"/>
            <a:ext cx="320040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7568" y="1627632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95160" y="1627632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09560" y="1627632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승리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23560" y="2029968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2029968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95160" y="2029968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909560" y="2029968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무승부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623560" y="2432304"/>
            <a:ext cx="320040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87568" y="2432304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95160" y="2432304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909560" y="2432304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패배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23560" y="2834640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87568" y="2834640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best_score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95160" y="2834640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09560" y="2834640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점수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623560" y="3236976"/>
            <a:ext cx="320040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87568" y="3236976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total_matches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995160" y="3236976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909560" y="3236976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게임 수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23560" y="3639312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87568" y="3639312"/>
            <a:ext cx="1261872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last_played_at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995160" y="3639312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909560" y="3639312"/>
            <a:ext cx="86868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게임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23560" y="4160520"/>
            <a:ext cx="3200400" cy="658368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4178808"/>
            <a:ext cx="310896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match_results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player_stats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Transaction으로 원자 처리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저장 흐름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78408"/>
            <a:ext cx="530352" cy="5303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914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매치 종료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26187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→ Ended: MarkRoomEnded()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00300" y="1737360"/>
            <a:ext cx="0" cy="1371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1965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생성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3134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BuildMatchResultPayload() → MatchResultPayload 객체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00300" y="2788920"/>
            <a:ext cx="0" cy="1371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65760" y="292608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8152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81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3017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Saving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3649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Saving으로 전이 · 클라이언트 broadcast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00300" y="3840480"/>
            <a:ext cx="0" cy="1371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65760" y="397764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3308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33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5568" y="4069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Transaction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4165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→ INSERT match_results → UPSERT player_stats × 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82296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978408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978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04688" y="914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재시도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126187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시 COMMIT, 실패 시 최대 3회 retry 후 롤백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89420" y="1737360"/>
            <a:ext cx="0" cy="137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754880" y="187452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029968"/>
            <a:ext cx="530352" cy="5303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04688" y="1965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조회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04688" y="23134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QueryTop10() → SELECT ORDER BY best_score DESC LIMIT 10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89420" y="2788920"/>
            <a:ext cx="0" cy="13716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4754880" y="2926080"/>
            <a:ext cx="4069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081528"/>
            <a:ext cx="530352" cy="53035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81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04688" y="3017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ResultsReady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04688" y="33649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BroadcastRoomAsync(leaderboard) → 클라이언트 결과 화면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34840" y="3337560"/>
            <a:ext cx="3200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841248"/>
            <a:ext cx="365760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8412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NetworkSpikeBootstrap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DontDestroyOnLoad · 앱 자동 생성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0" cy="25603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148840" y="1719072"/>
            <a:ext cx="48463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7190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NetworkSpikeApp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20482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게임·UI 매니저 · 룸 진입/종료 · 게임 상태 동기화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0" cy="25603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097280" y="2633472"/>
            <a:ext cx="694944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63347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NetworkSpikeClient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6265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연결·핸드셰이크 · SendInputFrameAsync · ReadLoop(background) · HeartbeatLoop(2s) · SynchronizationContext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438144"/>
            <a:ext cx="0" cy="25603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7280" y="3694176"/>
            <a:ext cx="29718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36941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NetworkSpikeProtocol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078224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Unity측 DTO · 동일 프로토콜 정의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3694176"/>
            <a:ext cx="29718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6941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NetworkSpikeScenePreview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4078224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에디터 미리보기 · 씬 초기화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&amp; 데모 동선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4069080" cy="41148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04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권위 서버로 게임 로직 100% 서버 처리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Length-Prefix JSON으로 신뢰성 있는 통신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룸 상태 머신 6단계 (Lobby → ResultsReady)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Transaction으로 원자적 전적 저장 (3회 재시도)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HeartbeatLoop + StaleTimeout으로 연결 관리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Unity는 입력 전송 + 렌더링만 담당 (경량 클라이언트)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069080" cy="4114800"/>
          </a:xfrm>
          <a:prstGeom prst="rect">
            <a:avLst/>
          </a:prstGeom>
          <a:solidFill>
            <a:srgbClr val="1A2744"/>
          </a:solidFill>
          <a:ln w="1270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804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동선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19472" y="1389888"/>
            <a:ext cx="365760" cy="36576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2984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시작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29844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run (Port 7777)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9472" y="1984248"/>
            <a:ext cx="365760" cy="36576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8928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실행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8928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 접속 · 룸 생성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19472" y="2578608"/>
            <a:ext cx="365760" cy="36576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4871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2번째 클라이언트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48716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B 참가 · Ready 설정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9472" y="3172968"/>
            <a:ext cx="365760" cy="36576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0815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매치 시작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0815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호스트 Start → Countdown → 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3767328"/>
            <a:ext cx="365760" cy="36576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67588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게임플레이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367588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이동·배터리·함정·SlowShot 시연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4361688"/>
            <a:ext cx="365760" cy="36576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42702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확인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427024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match_results + player_stats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Rush Arena</dc:title>
  <dc:subject>PptxGenJS Presentation</dc:subject>
  <dc:creator>네트워크 프로그래밍</dc:creator>
  <cp:lastModifiedBy>네트워크 프로그래밍</cp:lastModifiedBy>
  <cp:revision>1</cp:revision>
  <dcterms:created xsi:type="dcterms:W3CDTF">2026-04-20T11:49:24Z</dcterms:created>
  <dcterms:modified xsi:type="dcterms:W3CDTF">2026-04-20T11:49:24Z</dcterms:modified>
</cp:coreProperties>
</file>